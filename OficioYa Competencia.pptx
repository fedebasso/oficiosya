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474720" cy="3474720"/>
          </a:xfrm>
          <a:prstGeom prst="ellipse">
            <a:avLst/>
          </a:prstGeom>
          <a:solidFill>
            <a:srgbClr val="0077A8">
              <a:alpha val="20000"/>
            </a:srgbClr>
          </a:solidFill>
          <a:ln w="12700">
            <a:solidFill>
              <a:srgbClr val="0077A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Análisis de Competencia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está en el mercado, qué les falta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por qué OficioYa puede ganar?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2286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375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Uruguay · Latinoamérica · 2025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OficioYa — Proyecto de presentación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Panorama Competitivo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1572768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1572768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GetNinjas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🇧🇷 Brasil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304288"/>
            <a:ext cx="1207008" cy="274320"/>
          </a:xfrm>
          <a:prstGeom prst="rect">
            <a:avLst/>
          </a:prstGeom>
          <a:solidFill>
            <a:srgbClr val="FF6B35">
              <a:alpha val="15000"/>
            </a:srgbClr>
          </a:solidFill>
          <a:ln w="12700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0428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7432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Presente en UY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Foco en oficios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6576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Sin pago local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39112" y="1051560"/>
            <a:ext cx="1572768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39112" y="1051560"/>
            <a:ext cx="1572768" cy="9144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39112" y="12344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4F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5B4F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39112" y="19202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🌎 LATAM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21992" y="2304288"/>
            <a:ext cx="1207008" cy="274320"/>
          </a:xfrm>
          <a:prstGeom prst="rect">
            <a:avLst/>
          </a:prstGeom>
          <a:solidFill>
            <a:srgbClr val="5B4FBE">
              <a:alpha val="15000"/>
            </a:srgbClr>
          </a:solidFill>
          <a:ln w="12700">
            <a:solidFill>
              <a:srgbClr val="5B4FBE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21992" y="230428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4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 / ARG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39112" y="27432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Presente en UY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39112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Foco en oficios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39112" y="36576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Pago en UY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58184" y="1051560"/>
            <a:ext cx="1572768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58184" y="1051560"/>
            <a:ext cx="1572768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2344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Lavuro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758184" y="19202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🇦🇷 Argentina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2304288"/>
            <a:ext cx="1207008" cy="274320"/>
          </a:xfrm>
          <a:prstGeom prst="rect">
            <a:avLst/>
          </a:prstGeom>
          <a:solidFill>
            <a:srgbClr val="2E86AB">
              <a:alpha val="15000"/>
            </a:srgbClr>
          </a:solidFill>
          <a:ln w="12700">
            <a:solidFill>
              <a:srgbClr val="2E86AB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41064" y="230428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58184" y="27432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opera en UY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58184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Foco en oficios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58184" y="36576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Sin pago local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77256" y="1051560"/>
            <a:ext cx="1572768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77256" y="1051560"/>
            <a:ext cx="1572768" cy="914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77256" y="12344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Workana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77256" y="19202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🌎 LATAM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660136" y="2304288"/>
            <a:ext cx="1207008" cy="274320"/>
          </a:xfrm>
          <a:prstGeom prst="rect">
            <a:avLst/>
          </a:prstGeom>
          <a:solidFill>
            <a:srgbClr val="1B998B">
              <a:alpha val="15000"/>
            </a:srgbClr>
          </a:solidFill>
          <a:ln w="12700">
            <a:solidFill>
              <a:srgbClr val="1B998B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0136" y="230428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77256" y="27432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Presente en UY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77256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Foco en freelance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77256" y="36576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Sin pago local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196328" y="1051560"/>
            <a:ext cx="1572768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196328" y="1051560"/>
            <a:ext cx="1572768" cy="914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96328" y="12344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4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TaskRabbit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196328" y="19202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EEUU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379208" y="2304288"/>
            <a:ext cx="1207008" cy="274320"/>
          </a:xfrm>
          <a:prstGeom prst="rect">
            <a:avLst/>
          </a:prstGeom>
          <a:solidFill>
            <a:srgbClr val="E84855">
              <a:alpha val="15000"/>
            </a:srgbClr>
          </a:solidFill>
          <a:ln w="12700">
            <a:solidFill>
              <a:srgbClr val="E84855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79208" y="230428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EEUU/Europa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96328" y="27432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opera en UY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196328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Foco en freelance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196328" y="36576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Sin pago local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combina: verificación real + urgencias + garantía + enfoque 100% Uruguay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GetNinjas  🇧🇷  —  El gigante de Brasil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65960" cy="1051560"/>
          </a:xfrm>
          <a:prstGeom prst="rect">
            <a:avLst/>
          </a:prstGeom>
          <a:solidFill>
            <a:srgbClr val="FFF3EE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1051560"/>
            <a:ext cx="1965960" cy="1051560"/>
          </a:xfrm>
          <a:prstGeom prst="rect">
            <a:avLst/>
          </a:prstGeom>
          <a:solidFill>
            <a:srgbClr val="FFF3EE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097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14600" y="16916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servicio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1965960" cy="1051560"/>
          </a:xfrm>
          <a:prstGeom prst="rect">
            <a:avLst/>
          </a:prstGeom>
          <a:solidFill>
            <a:srgbClr val="FFF3EE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97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Brasil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16916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principal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1051560"/>
            <a:ext cx="1965960" cy="1051560"/>
          </a:xfrm>
          <a:prstGeom prst="rect">
            <a:avLst/>
          </a:prstGeom>
          <a:solidFill>
            <a:srgbClr val="FFF3EE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097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UY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12280" y="16916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 aquí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Fortalezas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consolidada desde 2011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 variedad de servicios (+500 rubros)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 probado en Brasil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 Reclame Aqui 2025 — buena reputación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2860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Debilidades — oportunidad para OficioYa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2743200"/>
            <a:ext cx="4206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 en Uruguay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profesionales PAGAN para contactar clientes (modelo de monedas)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intermedia ni garantiza el trabajo — todo queda fuera de la app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geolocalización ni servicios urgentes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Numerosas quejas de pagos sin retorno y app con bugs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solidFill>
            <a:srgbClr val="FFF3EE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Oportunidad: traer un modelo similar pero 100% adaptado a Uruguay, con garantía real y sin cobro previo al profesional.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 Solution  🌎  —  El más cercano en Uruguay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65960" cy="1051560"/>
          </a:xfrm>
          <a:prstGeom prst="rect">
            <a:avLst/>
          </a:prstGeom>
          <a:solidFill>
            <a:srgbClr val="F3F1FF"/>
          </a:solidFill>
          <a:ln w="6350">
            <a:solidFill>
              <a:srgbClr val="5B4F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4F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llegó a Uruguay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1051560"/>
            <a:ext cx="1965960" cy="1051560"/>
          </a:xfrm>
          <a:prstGeom prst="rect">
            <a:avLst/>
          </a:prstGeom>
          <a:solidFill>
            <a:srgbClr val="F3F1FF"/>
          </a:solidFill>
          <a:ln w="6350">
            <a:solidFill>
              <a:srgbClr val="5B4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097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4F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UY+ARG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14600" y="16916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activos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1965960" cy="1051560"/>
          </a:xfrm>
          <a:prstGeom prst="rect">
            <a:avLst/>
          </a:prstGeom>
          <a:solidFill>
            <a:srgbClr val="F3F1FF"/>
          </a:solidFill>
          <a:ln w="6350">
            <a:solidFill>
              <a:srgbClr val="5B4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97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4F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Lista negra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16916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estafadores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1051560"/>
            <a:ext cx="1965960" cy="1051560"/>
          </a:xfrm>
          <a:prstGeom prst="rect">
            <a:avLst/>
          </a:prstGeom>
          <a:solidFill>
            <a:srgbClr val="F3F1FF"/>
          </a:solidFill>
          <a:ln w="6350">
            <a:solidFill>
              <a:srgbClr val="5B4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097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4F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app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12280" y="16916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web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Fortalezas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opera en Uruguay desde 2019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perfiles con fotos, calificaciones y reseñas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negra pública de profesionales problemáticos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de referencia por rubro visibles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2860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Debilidades — oportunidad para OficioYa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2743200"/>
            <a:ext cx="4206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app móvil — solo versión web desactualizada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sistema de urgencias ni geolocalización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intermedia pagos — todo se resuelve fuera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Escasas reseñas en Uruguay — comunidad pequeña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Quejas de técnicos que cobran adelantos y no vuelven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UX anticuados, poca adopción móvil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solidFill>
            <a:srgbClr val="F3F1FF"/>
          </a:solidFill>
          <a:ln w="6350">
            <a:solidFill>
              <a:srgbClr val="5B4F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4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Oportunidad: OficioYa puede superarlo con app móvil nativa, urgencias, pagos intermediados y mayor comunidad local.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Lavuro &amp; Workana — Referentes Regionales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690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69080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Lavuro  🇦🇷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argentina para oficios, con mentores como el fundador de TaskRabbit. Funciona en Mendoza.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Fortalezas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profesionales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ante incidentes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tipo PedidosYa — fácil de usar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Debilidades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 en Uruguay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muy limitada fuera de Mendoza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urgencias ni geolocalización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0690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05840"/>
            <a:ext cx="4069080" cy="914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0972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Workana  🌎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00600" y="16002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plataforma de freelance de LATAM. Enfocada en diseño, IT y marketing — NO en oficios manuales.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Fortalezas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6060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base de usuarios en toda LATAM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pagos seguro y en moneda local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Reputación consolidada en la región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Debilidades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9319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cubre oficios físicos (electricista, plomero, etc.)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freelance digital — sin presencialidad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urgencias ni servicios del hogar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TaskRabbit  🇺🇸  —  El modelo a seguir globalmente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65960" cy="1051560"/>
          </a:xfrm>
          <a:prstGeom prst="rect">
            <a:avLst/>
          </a:prstGeom>
          <a:solidFill>
            <a:srgbClr val="FFF0F0"/>
          </a:solidFill>
          <a:ln w="6350">
            <a:solidFill>
              <a:srgbClr val="E848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2008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1051560"/>
            <a:ext cx="1965960" cy="1051560"/>
          </a:xfrm>
          <a:prstGeom prst="rect">
            <a:avLst/>
          </a:prstGeom>
          <a:solidFill>
            <a:srgbClr val="FFF0F0"/>
          </a:solidFill>
          <a:ln w="6350">
            <a:solidFill>
              <a:srgbClr val="E848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097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EEUU+EU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14600" y="16916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1965960" cy="1051560"/>
          </a:xfrm>
          <a:prstGeom prst="rect">
            <a:avLst/>
          </a:prstGeom>
          <a:solidFill>
            <a:srgbClr val="FFF0F0"/>
          </a:solidFill>
          <a:ln w="6350">
            <a:solidFill>
              <a:srgbClr val="E848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97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IKEA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16916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 desde 2017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1051560"/>
            <a:ext cx="1965960" cy="1051560"/>
          </a:xfrm>
          <a:prstGeom prst="rect">
            <a:avLst/>
          </a:prstGeom>
          <a:solidFill>
            <a:srgbClr val="FFF0F0"/>
          </a:solidFill>
          <a:ln w="6350">
            <a:solidFill>
              <a:srgbClr val="E848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097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LATAM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12280" y="16916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 aquí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bien TaskRabbit y podés copiar: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2697480" cy="960120"/>
          </a:xfrm>
          <a:prstGeom prst="rect">
            <a:avLst/>
          </a:prstGeom>
          <a:solidFill>
            <a:srgbClr val="F0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346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Geolocalización real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profesionales disponibles en tu zona en tiempo real, con tiempo estimado de llegada.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788920"/>
            <a:ext cx="2697480" cy="960120"/>
          </a:xfrm>
          <a:prstGeom prst="rect">
            <a:avLst/>
          </a:prstGeom>
          <a:solidFill>
            <a:srgbClr val="F0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8346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Pagos intermediados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91840" y="317296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paga a través de la plataforma y el profesional recibe después de confirmar el trabajo. Elimina estafas.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2788920"/>
            <a:ext cx="2697480" cy="960120"/>
          </a:xfrm>
          <a:prstGeom prst="rect">
            <a:avLst/>
          </a:prstGeom>
          <a:solidFill>
            <a:srgbClr val="F0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28346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Sistema de reputación sólido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317296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Calificaciones verificadas post-servicio. Un profesional sin reseñas no aparece primero.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886200"/>
            <a:ext cx="2697480" cy="960120"/>
          </a:xfrm>
          <a:prstGeom prst="rect">
            <a:avLst/>
          </a:prstGeom>
          <a:solidFill>
            <a:srgbClr val="F0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31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Urgencias como categoría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27024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marcadas como urgentes con profesionales disponibles de inmediato y precio mayor.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3886200"/>
            <a:ext cx="2697480" cy="960120"/>
          </a:xfrm>
          <a:prstGeom prst="rect">
            <a:avLst/>
          </a:prstGeom>
          <a:solidFill>
            <a:srgbClr val="F0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931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Verificación de identidad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91840" y="427024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Foto, documento y antecedentes verificados antes de publicar el perfil.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3886200"/>
            <a:ext cx="2697480" cy="960120"/>
          </a:xfrm>
          <a:prstGeom prst="rect">
            <a:avLst/>
          </a:prstGeom>
          <a:solidFill>
            <a:srgbClr val="F0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931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Chat dentro de la app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26480" y="427024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comunicación queda registrada en la plataforma — da seguridad a ambas partes.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Tabla Comparativa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01168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914400"/>
            <a:ext cx="1280160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9144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GetNinjas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914400"/>
            <a:ext cx="1463040" cy="438912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9144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Solution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914400"/>
            <a:ext cx="118872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9144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Lavuro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914400"/>
            <a:ext cx="1280160" cy="43891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9144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TaskRabbit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89520" y="914400"/>
            <a:ext cx="1371600" cy="43891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9144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OficioYa 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371600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3716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en Uruguay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77440" y="1371600"/>
            <a:ext cx="1280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13716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1371600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13716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20640" y="1371600"/>
            <a:ext cx="1188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37160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1371600"/>
            <a:ext cx="1280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3716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89520" y="1371600"/>
            <a:ext cx="1371600" cy="420624"/>
          </a:xfrm>
          <a:prstGeom prst="rect">
            <a:avLst/>
          </a:prstGeom>
          <a:solidFill>
            <a:srgbClr val="E6FA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13716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1810512"/>
            <a:ext cx="201168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181051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nativa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77440" y="1810512"/>
            <a:ext cx="128016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181051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57600" y="1810512"/>
            <a:ext cx="146304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181051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120640" y="1810512"/>
            <a:ext cx="118872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18105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09360" y="1810512"/>
            <a:ext cx="128016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181051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589520" y="1810512"/>
            <a:ext cx="1371600" cy="420624"/>
          </a:xfrm>
          <a:prstGeom prst="rect">
            <a:avLst/>
          </a:prstGeom>
          <a:solidFill>
            <a:srgbClr val="E6FA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8105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" y="2249424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24942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en oficios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377440" y="2249424"/>
            <a:ext cx="1280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77440" y="224942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657600" y="2249424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22494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120640" y="2249424"/>
            <a:ext cx="1188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0" y="224942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309360" y="2249424"/>
            <a:ext cx="1280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224942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589520" y="2249424"/>
            <a:ext cx="1371600" cy="420624"/>
          </a:xfrm>
          <a:prstGeom prst="rect">
            <a:avLst/>
          </a:prstGeom>
          <a:solidFill>
            <a:srgbClr val="E6FA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224942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65760" y="2688336"/>
            <a:ext cx="201168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268833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real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377440" y="2688336"/>
            <a:ext cx="128016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77440" y="268833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parcial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3657600" y="2688336"/>
            <a:ext cx="146304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0" y="26883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parcial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120640" y="2688336"/>
            <a:ext cx="118872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20640" y="268833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309360" y="2688336"/>
            <a:ext cx="128016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268833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7589520" y="2688336"/>
            <a:ext cx="1371600" cy="420624"/>
          </a:xfrm>
          <a:prstGeom prst="rect">
            <a:avLst/>
          </a:prstGeom>
          <a:solidFill>
            <a:srgbClr val="E6FA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89520" y="26883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365760" y="3127248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312724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urgentes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2377440" y="3127248"/>
            <a:ext cx="1280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77440" y="312724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3657600" y="3127248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5120640" y="3127248"/>
            <a:ext cx="1188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20640" y="312724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6309360" y="3127248"/>
            <a:ext cx="1280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09360" y="312724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7589520" y="3127248"/>
            <a:ext cx="1371600" cy="420624"/>
          </a:xfrm>
          <a:prstGeom prst="rect">
            <a:avLst/>
          </a:prstGeom>
          <a:solidFill>
            <a:srgbClr val="E6FA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89520" y="312724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365760" y="3566160"/>
            <a:ext cx="201168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" y="35661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intermediado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2377440" y="3566160"/>
            <a:ext cx="128016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377440" y="356616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3657600" y="3566160"/>
            <a:ext cx="146304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657600" y="356616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5120640" y="3566160"/>
            <a:ext cx="118872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120640" y="356616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parcial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6309360" y="3566160"/>
            <a:ext cx="128016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09360" y="356616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7589520" y="3566160"/>
            <a:ext cx="1371600" cy="420624"/>
          </a:xfrm>
          <a:prstGeom prst="rect">
            <a:avLst/>
          </a:prstGeom>
          <a:solidFill>
            <a:srgbClr val="E6FA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589520" y="35661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365760" y="4005072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65760" y="40050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del trabajo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2377440" y="4005072"/>
            <a:ext cx="1280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377440" y="40050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3657600" y="4005072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657600" y="40050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5120640" y="4005072"/>
            <a:ext cx="1188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120640" y="400507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parcial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6309360" y="4005072"/>
            <a:ext cx="1280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309360" y="40050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parcial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7589520" y="4005072"/>
            <a:ext cx="1371600" cy="420624"/>
          </a:xfrm>
          <a:prstGeom prst="rect">
            <a:avLst/>
          </a:prstGeom>
          <a:solidFill>
            <a:srgbClr val="E6FA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589520" y="400507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365760" y="4443984"/>
            <a:ext cx="201168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65760" y="44439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2377440" y="4443984"/>
            <a:ext cx="128016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377440" y="444398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3657600" y="4443984"/>
            <a:ext cx="146304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657600" y="444398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5120640" y="4443984"/>
            <a:ext cx="118872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120640" y="444398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108" name="Shape 106"/>
          <p:cNvSpPr/>
          <p:nvPr/>
        </p:nvSpPr>
        <p:spPr>
          <a:xfrm>
            <a:off x="6309360" y="4443984"/>
            <a:ext cx="1280160" cy="42062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309360" y="444398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7589520" y="4443984"/>
            <a:ext cx="1371600" cy="420624"/>
          </a:xfrm>
          <a:prstGeom prst="rect">
            <a:avLst/>
          </a:prstGeom>
          <a:solidFill>
            <a:srgbClr val="E6FA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589520" y="444398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¿Por qué no triunfan en Uruguay?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97480" cy="1737360"/>
          </a:xfrm>
          <a:prstGeom prst="rect">
            <a:avLst/>
          </a:prstGeom>
          <a:solidFill>
            <a:srgbClr val="1224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9748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3E3E">
                    <a:alpha val="7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están aquí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TaskRabbit y Lavuro directamente no operan en Uruguay. GetNinjas es solo Brasil.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97480" cy="1737360"/>
          </a:xfrm>
          <a:prstGeom prst="rect">
            <a:avLst/>
          </a:prstGeom>
          <a:solidFill>
            <a:srgbClr val="1224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69748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972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3E3E">
                    <a:alpha val="7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15087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intermedian el pago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192024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dejan que el cliente y el profesional arreglen el pago solos — fuera de la app. Eso genera estafas, adelantos sin retorno y cero garantía.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97480" cy="1737360"/>
          </a:xfrm>
          <a:prstGeom prst="rect">
            <a:avLst/>
          </a:prstGeom>
          <a:solidFill>
            <a:srgbClr val="1224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05840"/>
            <a:ext cx="269748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0972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3E3E">
                    <a:alpha val="7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15087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urgencias reales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192024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tiene una categoría de emergencias con geolocalización y tiempo estimado. Si se te rompe algo un domingo, estás solo.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697480" cy="1737360"/>
          </a:xfrm>
          <a:prstGeom prst="rect">
            <a:avLst/>
          </a:prstGeom>
          <a:solidFill>
            <a:srgbClr val="1224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26080"/>
            <a:ext cx="269748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175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3E3E">
                    <a:alpha val="7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7200" y="34290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garantía del trabajo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84048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trabajo sale mal, ninguna plataforma responde. El usuario queda indefenso y pierde confianza en la app.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697480" cy="1737360"/>
          </a:xfrm>
          <a:prstGeom prst="rect">
            <a:avLst/>
          </a:prstGeom>
          <a:solidFill>
            <a:srgbClr val="1224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26080"/>
            <a:ext cx="269748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0175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3E3E">
                    <a:alpha val="7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291840" y="34290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pequeña en UY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91840" y="384048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Solution está en Uruguay pero nunca logró masa crítica de profesionales ni de clientes activos.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35040" y="2926080"/>
            <a:ext cx="2697480" cy="1737360"/>
          </a:xfrm>
          <a:prstGeom prst="rect">
            <a:avLst/>
          </a:prstGeom>
          <a:solidFill>
            <a:srgbClr val="1224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926080"/>
            <a:ext cx="269748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30175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3E3E">
                    <a:alpha val="7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126480" y="34290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y app desactualizada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26480" y="384048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Solution solo tiene web, sin app móvil. En 2025 eso es un freno enorme para la adopción masiva.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Ventaja de OficioYa — Lo que ninguno tiene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97480" cy="1691640"/>
          </a:xfrm>
          <a:prstGeom prst="rect">
            <a:avLst/>
          </a:prstGeom>
          <a:solidFill>
            <a:srgbClr val="F0F8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64008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🇺🇾  100% Uruguay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el mercado local desde el día uno. Precios en pesos, soporte local, comunidad uruguaya.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97480" cy="1691640"/>
          </a:xfrm>
          <a:prstGeom prst="rect">
            <a:avLst/>
          </a:prstGeom>
          <a:solidFill>
            <a:srgbClr val="F0F8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51560"/>
            <a:ext cx="64008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Pago intermediado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6002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dinero pasa por la plataforma. El profesional cobra cuando el trabajo está confirmado. Cero estafas.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97480" cy="1691640"/>
          </a:xfrm>
          <a:prstGeom prst="rect">
            <a:avLst/>
          </a:prstGeom>
          <a:solidFill>
            <a:srgbClr val="F0F8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51560"/>
            <a:ext cx="64008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Urgencias reales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16002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atención inmediata con geolocalización. El único con esta funcionalidad en Uruguay.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697480" cy="1691640"/>
          </a:xfrm>
          <a:prstGeom prst="rect">
            <a:avLst/>
          </a:prstGeom>
          <a:solidFill>
            <a:srgbClr val="F0F8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26080"/>
            <a:ext cx="64008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17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Garantía del servicio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4747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trabajo sale mal, la plataforma interviene. Una propuesta única que genera confianza diferencial.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697480" cy="1691640"/>
          </a:xfrm>
          <a:prstGeom prst="rect">
            <a:avLst/>
          </a:prstGeom>
          <a:solidFill>
            <a:srgbClr val="F0F8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26080"/>
            <a:ext cx="64008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017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App mobile-first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37560" y="34747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Diseñada primero para celular — donde el usuario busca en el momento del problema.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35040" y="2926080"/>
            <a:ext cx="2697480" cy="1691640"/>
          </a:xfrm>
          <a:prstGeom prst="rect">
            <a:avLst/>
          </a:prstGeom>
          <a:solidFill>
            <a:srgbClr val="F0F8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926080"/>
            <a:ext cx="64008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017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Cero costo inicial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72200" y="34747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profesional no paga para entrar ni para contactar clientes. Solo comisión cuando concreta un trabajo.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077A8">
              <a:alpha val="15000"/>
            </a:srgbClr>
          </a:solidFill>
          <a:ln w="12700">
            <a:solidFill>
              <a:srgbClr val="0077A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oportunidad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está abierta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2004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competidor domina Uruguay en oficios físicos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mayor referente local (Home Solution) tiene graves debilidades de producto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exitoso global (TaskRabbit) nunca llegó a LATAM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GetNinjas demuestra que el modelo funciona — pero está lejos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ventana está abierta: quien llegue primero con el producto correcto, gana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4462272"/>
            <a:ext cx="822960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4622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OficioYa — El momento es ahora. Uruguay nos está esperando.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OficioYa - Análisis de Competencia</dc:title>
  <dc:subject>PptxGenJS Presentation</dc:subject>
  <dc:creator>PptxGenJS</dc:creator>
  <cp:lastModifiedBy>PptxGenJS</cp:lastModifiedBy>
  <cp:revision>1</cp:revision>
  <dcterms:created xsi:type="dcterms:W3CDTF">2026-06-03T14:46:43Z</dcterms:created>
  <dcterms:modified xsi:type="dcterms:W3CDTF">2026-06-03T14:46:43Z</dcterms:modified>
</cp:coreProperties>
</file>